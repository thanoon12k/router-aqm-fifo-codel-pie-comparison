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9" r:id="rId1"/>
  </p:sldMasterIdLst>
  <p:notesMasterIdLst>
    <p:notesMasterId r:id="rId28"/>
  </p:notesMasterIdLst>
  <p:sldIdLst>
    <p:sldId id="256" r:id="rId2"/>
    <p:sldId id="257" r:id="rId3"/>
    <p:sldId id="258" r:id="rId4"/>
    <p:sldId id="261" r:id="rId5"/>
    <p:sldId id="264" r:id="rId6"/>
    <p:sldId id="294" r:id="rId7"/>
    <p:sldId id="265" r:id="rId8"/>
    <p:sldId id="259" r:id="rId9"/>
    <p:sldId id="282" r:id="rId10"/>
    <p:sldId id="269" r:id="rId11"/>
    <p:sldId id="276" r:id="rId12"/>
    <p:sldId id="277" r:id="rId13"/>
    <p:sldId id="278" r:id="rId14"/>
    <p:sldId id="281" r:id="rId15"/>
    <p:sldId id="271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3" r:id="rId25"/>
    <p:sldId id="292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>
        <p:scale>
          <a:sx n="59" d="100"/>
          <a:sy n="59" d="100"/>
        </p:scale>
        <p:origin x="940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53F50-FE9A-468B-A0DD-EFB7DABE2771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53540-5053-4E20-A69F-C3EC18AE2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6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3540-5053-4E20-A69F-C3EC18AE2D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3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2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416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33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0608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1917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1139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53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4528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6182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4125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84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16/11/1446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76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8D643C-899A-444D-9DD1-F85FEA73FFC5}"/>
              </a:ext>
            </a:extLst>
          </p:cNvPr>
          <p:cNvSpPr/>
          <p:nvPr/>
        </p:nvSpPr>
        <p:spPr>
          <a:xfrm>
            <a:off x="2735068" y="677239"/>
            <a:ext cx="6096000" cy="1324978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b="1" dirty="0">
                <a:latin typeface="Simplified Arabic" panose="02020603050405020304" pitchFamily="18" charset="-78"/>
                <a:ea typeface="Times New Roman" panose="02020603050405020304" pitchFamily="18" charset="0"/>
                <a:cs typeface="Arial" panose="020B0604020202020204" pitchFamily="34" charset="0"/>
              </a:rPr>
              <a:t>Ministry of Higher Education and Scientific Research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b="1" dirty="0">
                <a:latin typeface="Simplified Arabic" panose="02020603050405020304" pitchFamily="18" charset="-78"/>
                <a:ea typeface="Times New Roman" panose="02020603050405020304" pitchFamily="18" charset="0"/>
                <a:cs typeface="Arial" panose="020B0604020202020204" pitchFamily="34" charset="0"/>
              </a:rPr>
              <a:t>Northern Technical University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b="1" dirty="0">
                <a:latin typeface="Simplified Arabic" panose="02020603050405020304" pitchFamily="18" charset="-78"/>
                <a:ea typeface="Times New Roman" panose="02020603050405020304" pitchFamily="18" charset="0"/>
                <a:cs typeface="Arial" panose="020B0604020202020204" pitchFamily="34" charset="0"/>
              </a:rPr>
              <a:t>Technical Engineering College \ Mosul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Simplified Arabic" panose="02020603050405020304" pitchFamily="18" charset="-78"/>
                <a:ea typeface="Times New Roman" panose="02020603050405020304" pitchFamily="18" charset="0"/>
              </a:rPr>
              <a:t>Computer Technical Engineering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538F62-ACB8-4671-935F-D23960C465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832" y="414948"/>
            <a:ext cx="1733735" cy="1933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5399C-A414-4888-9C31-8E7AA46B5D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05410" y="281640"/>
            <a:ext cx="2524050" cy="243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4A8579-F349-4093-93E2-E051006CB2E6}"/>
              </a:ext>
            </a:extLst>
          </p:cNvPr>
          <p:cNvSpPr/>
          <p:nvPr/>
        </p:nvSpPr>
        <p:spPr>
          <a:xfrm>
            <a:off x="335360" y="4261848"/>
            <a:ext cx="2241693" cy="24964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en-US" sz="2400" dirty="0"/>
              <a:t>Presented by</a:t>
            </a:r>
            <a:endParaRPr lang="en-US" sz="2400" i="1" dirty="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400" b="1" i="1" dirty="0"/>
              <a:t>Arshad Luqman 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400" b="1" i="1" dirty="0"/>
              <a:t>Thanoon Younis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400" b="1" i="1" dirty="0"/>
              <a:t>Maryam Majid</a:t>
            </a:r>
            <a:endParaRPr lang="ar-IQ" sz="2400" b="1" i="1" dirty="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ar-IQ" sz="2400" b="1" i="1" dirty="0"/>
              <a:t>                       </a:t>
            </a:r>
            <a:r>
              <a:rPr lang="en-US" sz="2400" b="1" i="1" dirty="0"/>
              <a:t>  </a:t>
            </a:r>
          </a:p>
        </p:txBody>
      </p:sp>
      <p:sp>
        <p:nvSpPr>
          <p:cNvPr id="14" name="مربع نص 1">
            <a:extLst>
              <a:ext uri="{FF2B5EF4-FFF2-40B4-BE49-F238E27FC236}">
                <a16:creationId xmlns:a16="http://schemas.microsoft.com/office/drawing/2014/main" id="{36A4C0D6-780D-456E-B0A0-C9DB81C4237C}"/>
              </a:ext>
            </a:extLst>
          </p:cNvPr>
          <p:cNvSpPr txBox="1"/>
          <p:nvPr/>
        </p:nvSpPr>
        <p:spPr>
          <a:xfrm>
            <a:off x="2360726" y="2367171"/>
            <a:ext cx="68446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Router AQM QUEUE </a:t>
            </a:r>
          </a:p>
          <a:p>
            <a:pPr algn="ctr"/>
            <a:r>
              <a:rPr lang="en-US" sz="4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PIE &amp; FIFO </a:t>
            </a:r>
          </a:p>
          <a:p>
            <a:pPr algn="ctr"/>
            <a:r>
              <a:rPr lang="en-US" sz="4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BE325F-DCBB-4E6B-8202-AAE7DF3F673B}"/>
              </a:ext>
            </a:extLst>
          </p:cNvPr>
          <p:cNvSpPr/>
          <p:nvPr/>
        </p:nvSpPr>
        <p:spPr>
          <a:xfrm>
            <a:off x="8256240" y="4854508"/>
            <a:ext cx="2520280" cy="9937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en-US" sz="2400" b="1" i="1" dirty="0">
                <a:ea typeface="Times New Roman" panose="02020603050405020304" pitchFamily="18" charset="0"/>
                <a:cs typeface="Arial" panose="020B0604020202020204" pitchFamily="34" charset="0"/>
              </a:rPr>
              <a:t>Supervisor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400" b="1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spc="20" dirty="0">
                <a:solidFill>
                  <a:srgbClr val="3C4043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/>
              <a:t>Dr. Ahmad </a:t>
            </a:r>
            <a:r>
              <a:rPr lang="en-US" sz="2400" b="1" i="1" dirty="0" err="1"/>
              <a:t>Faleh</a:t>
            </a:r>
            <a:endParaRPr lang="en-US" sz="2400" b="1" i="1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42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35360" y="548680"/>
            <a:ext cx="12192000" cy="16561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Network Queue Management Simulation Table of Contents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981200" y="2492897"/>
            <a:ext cx="8723312" cy="452596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200" b="1" dirty="0"/>
              <a:t>1. Project Overview </a:t>
            </a:r>
          </a:p>
          <a:p>
            <a:pPr marL="0" indent="0" algn="l">
              <a:buNone/>
            </a:pPr>
            <a:r>
              <a:rPr lang="en-US" sz="3200" b="1" dirty="0"/>
              <a:t>2. Algorithms - FIFO Algorithm - PIE Algorithm </a:t>
            </a:r>
          </a:p>
          <a:p>
            <a:pPr marL="0" indent="0" algn="l">
              <a:buNone/>
            </a:pPr>
            <a:r>
              <a:rPr lang="en-US" sz="3200" b="1" dirty="0"/>
              <a:t>3. Project Structure</a:t>
            </a:r>
          </a:p>
          <a:p>
            <a:pPr marL="0" indent="0" algn="l">
              <a:buNone/>
            </a:pPr>
            <a:r>
              <a:rPr lang="en-US" sz="3200" b="1" dirty="0"/>
              <a:t>4. Implementation Details 5.</a:t>
            </a:r>
          </a:p>
          <a:p>
            <a:pPr marL="0" indent="0" algn="l">
              <a:buNone/>
            </a:pPr>
            <a:r>
              <a:rPr lang="en-US" sz="3200" b="1" dirty="0"/>
              <a:t>5. Results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305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600" b="1" dirty="0"/>
              <a:t>Network queue management is crucial for maintaining efficient packet processing in modern networks. This simulation compares two fundamental approaches:</a:t>
            </a:r>
            <a:endParaRPr lang="ar-IQ" sz="2600" b="1" dirty="0"/>
          </a:p>
          <a:p>
            <a:pPr marL="0" indent="0" algn="l">
              <a:buNone/>
            </a:pPr>
            <a:endParaRPr lang="en-US" sz="2600" b="1" dirty="0"/>
          </a:p>
          <a:p>
            <a:pPr marL="514350" indent="-514350" algn="l" rtl="0">
              <a:buFont typeface="+mj-lt"/>
              <a:buAutoNum type="arabicPeriod"/>
            </a:pPr>
            <a:r>
              <a:rPr lang="en-US" sz="2800" b="1" dirty="0"/>
              <a:t>First-In-First-Out (FIFO): A basic queuing strategy where packets are processed strictly in arrival order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sz="2800" b="1" dirty="0"/>
              <a:t>Proportional Integral controller Enhanced (PIE): An advanced algorithm using control theory to manage queue delays actively</a:t>
            </a:r>
          </a:p>
        </p:txBody>
      </p:sp>
    </p:spTree>
    <p:extLst>
      <p:ext uri="{BB962C8B-B14F-4D97-AF65-F5344CB8AC3E}">
        <p14:creationId xmlns:p14="http://schemas.microsoft.com/office/powerpoint/2010/main" val="371320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8621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Algorithms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35360" y="1772816"/>
            <a:ext cx="11856640" cy="435334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800" b="1" dirty="0"/>
              <a:t>2.1 FIFO Algorithm</a:t>
            </a:r>
          </a:p>
          <a:p>
            <a:pPr marL="0" indent="0" algn="l">
              <a:buNone/>
            </a:pPr>
            <a:r>
              <a:rPr lang="en-US" sz="2800" dirty="0"/>
              <a:t>The First-In-First-Out algorithm implements a simple queue management strategy where packets are processed strictly in arrival order. Its mathematical model is defined as:</a:t>
            </a:r>
          </a:p>
          <a:p>
            <a:pPr marL="0" indent="0" algn="l">
              <a:buNone/>
            </a:pPr>
            <a:r>
              <a:rPr lang="en-US" sz="2800" i="1" dirty="0"/>
              <a:t>Q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)=</a:t>
            </a:r>
            <a:r>
              <a:rPr lang="en-US" sz="2800" i="1" dirty="0"/>
              <a:t>min</a:t>
            </a:r>
            <a:r>
              <a:rPr lang="en-US" sz="2800" dirty="0"/>
              <a:t>(</a:t>
            </a:r>
            <a:r>
              <a:rPr lang="en-US" sz="2800" i="1" dirty="0"/>
              <a:t>Q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−1)+</a:t>
            </a:r>
            <a:r>
              <a:rPr lang="en-US" sz="2800" i="1" dirty="0"/>
              <a:t>P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),</a:t>
            </a:r>
            <a:r>
              <a:rPr lang="en-US" sz="2800" i="1" dirty="0"/>
              <a:t>C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r>
              <a:rPr lang="en-US" sz="2800" dirty="0"/>
              <a:t>If C &gt; [ </a:t>
            </a:r>
            <a:r>
              <a:rPr lang="en-US" sz="2800" i="1" dirty="0"/>
              <a:t>Q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−1)+</a:t>
            </a:r>
            <a:r>
              <a:rPr lang="en-US" sz="2800" i="1" dirty="0"/>
              <a:t>P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) ] </a:t>
            </a:r>
            <a:r>
              <a:rPr lang="en-US" sz="2800" dirty="0">
                <a:highlight>
                  <a:srgbClr val="FFFF00"/>
                </a:highlight>
              </a:rPr>
              <a:t>add the packet to the queue </a:t>
            </a:r>
            <a:r>
              <a:rPr lang="en-US" sz="2800" dirty="0"/>
              <a:t>else </a:t>
            </a:r>
            <a:r>
              <a:rPr lang="en-US" sz="2800" dirty="0">
                <a:highlight>
                  <a:srgbClr val="FF0000"/>
                </a:highlight>
              </a:rPr>
              <a:t>delete first packet in the queue</a:t>
            </a:r>
          </a:p>
          <a:p>
            <a:pPr marL="0" indent="0" algn="l">
              <a:buNone/>
            </a:pPr>
            <a:r>
              <a:rPr lang="en-US" sz="2800" dirty="0">
                <a:solidFill>
                  <a:srgbClr val="0070C0"/>
                </a:solidFill>
                <a:latin typeface="-apple-system"/>
              </a:rPr>
              <a:t>Where:</a:t>
            </a:r>
          </a:p>
          <a:p>
            <a:pPr algn="l" rtl="0"/>
            <a:r>
              <a:rPr lang="en-US" sz="2800" dirty="0">
                <a:latin typeface="-apple-system"/>
              </a:rPr>
              <a:t>Q(t): Current queue size</a:t>
            </a:r>
          </a:p>
          <a:p>
            <a:r>
              <a:rPr lang="en-US" sz="2800" i="1" dirty="0"/>
              <a:t>P</a:t>
            </a:r>
            <a:r>
              <a:rPr lang="en-US" sz="2800" dirty="0">
                <a:latin typeface="-apple-system"/>
              </a:rPr>
              <a:t>(t): Arriving packets</a:t>
            </a:r>
          </a:p>
          <a:p>
            <a:pPr algn="l" rtl="0"/>
            <a:r>
              <a:rPr lang="en-US" sz="2800" dirty="0">
                <a:latin typeface="-apple-system"/>
              </a:rPr>
              <a:t>C: Queue capacity</a:t>
            </a:r>
          </a:p>
          <a:p>
            <a:pPr algn="l" rtl="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368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97280" y="675438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2.2 </a:t>
            </a:r>
            <a:r>
              <a:rPr lang="en-US" b="1" dirty="0">
                <a:solidFill>
                  <a:srgbClr val="FF0000"/>
                </a:solidFill>
              </a:rPr>
              <a:t>PIE</a:t>
            </a:r>
            <a:r>
              <a:rPr lang="en-US" dirty="0">
                <a:solidFill>
                  <a:srgbClr val="FF0000"/>
                </a:solidFill>
              </a:rPr>
              <a:t>(Proportional Integral controller Enhanced ) Algorithm</a:t>
            </a:r>
            <a:br>
              <a:rPr lang="en-US" dirty="0"/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PIE algorithm is an Active Queue Management (AQM) technique designed to reduce latency caused by excessive buffering in network queues, a problem commonly known as "</a:t>
            </a:r>
            <a:r>
              <a:rPr lang="en-US" sz="3600" dirty="0" err="1"/>
              <a:t>Bufferbloat</a:t>
            </a:r>
            <a:r>
              <a:rPr lang="en-US" sz="3600" dirty="0"/>
              <a:t>." PIE employs a Proportional-Integral (PI) controller to adjust the packet drop probability based on the difference between the current queuing delay and a target delay.</a:t>
            </a:r>
          </a:p>
        </p:txBody>
      </p:sp>
    </p:spTree>
    <p:extLst>
      <p:ext uri="{BB962C8B-B14F-4D97-AF65-F5344CB8AC3E}">
        <p14:creationId xmlns:p14="http://schemas.microsoft.com/office/powerpoint/2010/main" val="185303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97280" y="1124744"/>
            <a:ext cx="10058400" cy="396592"/>
          </a:xfrm>
        </p:spPr>
        <p:txBody>
          <a:bodyPr>
            <a:noAutofit/>
          </a:bodyPr>
          <a:lstStyle/>
          <a:p>
            <a:pPr algn="l" rtl="0"/>
            <a:r>
              <a:rPr lang="en-US" sz="3600" b="1" dirty="0">
                <a:solidFill>
                  <a:srgbClr val="FF0000"/>
                </a:solidFill>
              </a:rPr>
              <a:t>How PIE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9E7C8-EC14-4DDB-AC90-0B181DCC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16" y="1697208"/>
            <a:ext cx="8352928" cy="4664111"/>
          </a:xfrm>
          <a:prstGeom prst="rect">
            <a:avLst/>
          </a:prstGeom>
        </p:spPr>
      </p:pic>
      <p:sp>
        <p:nvSpPr>
          <p:cNvPr id="5" name="عنوان 1">
            <a:extLst>
              <a:ext uri="{FF2B5EF4-FFF2-40B4-BE49-F238E27FC236}">
                <a16:creationId xmlns:a16="http://schemas.microsoft.com/office/drawing/2014/main" id="{09B21A93-CA26-4672-A36A-BDCE728963BA}"/>
              </a:ext>
            </a:extLst>
          </p:cNvPr>
          <p:cNvSpPr txBox="1">
            <a:spLocks/>
          </p:cNvSpPr>
          <p:nvPr/>
        </p:nvSpPr>
        <p:spPr>
          <a:xfrm>
            <a:off x="9912424" y="5356740"/>
            <a:ext cx="2808312" cy="753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: RFC8033</a:t>
            </a:r>
          </a:p>
        </p:txBody>
      </p:sp>
    </p:spTree>
    <p:extLst>
      <p:ext uri="{BB962C8B-B14F-4D97-AF65-F5344CB8AC3E}">
        <p14:creationId xmlns:p14="http://schemas.microsoft.com/office/powerpoint/2010/main" val="107724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97280" y="1300616"/>
            <a:ext cx="10058400" cy="396592"/>
          </a:xfrm>
        </p:spPr>
        <p:txBody>
          <a:bodyPr>
            <a:noAutofit/>
          </a:bodyPr>
          <a:lstStyle/>
          <a:p>
            <a:pPr algn="l" rtl="0"/>
            <a:r>
              <a:rPr lang="en-US" sz="3600" b="1" dirty="0">
                <a:solidFill>
                  <a:srgbClr val="FF0000"/>
                </a:solidFill>
              </a:rPr>
              <a:t>PIE drop Equation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19516-6EAC-4D7D-968E-41A71AAF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916832"/>
            <a:ext cx="101155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0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29FFFF-BA2C-4453-9DFF-51B1133C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1139" y="-2094178"/>
            <a:ext cx="6888088" cy="10979486"/>
          </a:xfrm>
          <a:prstGeom prst="rect">
            <a:avLst/>
          </a:prstGeom>
        </p:spPr>
      </p:pic>
      <p:sp>
        <p:nvSpPr>
          <p:cNvPr id="5" name="عنوان 1">
            <a:extLst>
              <a:ext uri="{FF2B5EF4-FFF2-40B4-BE49-F238E27FC236}">
                <a16:creationId xmlns:a16="http://schemas.microsoft.com/office/drawing/2014/main" id="{307463B0-DF6F-4CF2-ABFB-E62F107F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55349"/>
            <a:ext cx="3301008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60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0.</a:t>
            </a:r>
            <a:r>
              <a:rPr lang="en-US" sz="2800" dirty="0"/>
              <a:t> Main</a:t>
            </a:r>
            <a:r>
              <a:rPr lang="en-US" sz="2800" dirty="0">
                <a:solidFill>
                  <a:srgbClr val="354154"/>
                </a:solidFill>
                <a:latin typeface="-apple-system"/>
              </a:rPr>
              <a:t> Method:</a:t>
            </a:r>
          </a:p>
          <a:p>
            <a:pPr marL="0" indent="0" algn="l" rtl="0">
              <a:buNone/>
            </a:pPr>
            <a:r>
              <a:rPr lang="en-US" sz="2800" dirty="0"/>
              <a:t>Start point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D420B-E6A7-4C02-8969-7E0701AA9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" y="2424800"/>
            <a:ext cx="11590362" cy="426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8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1.Packet Class:</a:t>
            </a:r>
          </a:p>
          <a:p>
            <a:pPr marL="0" lvl="0" indent="0">
              <a:buClr>
                <a:srgbClr val="E48312"/>
              </a:buClr>
              <a:buNone/>
            </a:pPr>
            <a:r>
              <a:rPr lang="en-US" sz="2400" dirty="0">
                <a:solidFill>
                  <a:srgbClr val="354154"/>
                </a:solidFill>
                <a:latin typeface="-apple-system"/>
              </a:rPr>
              <a:t>Responsible of loading  and generation packets with it’s details:</a:t>
            </a:r>
          </a:p>
          <a:p>
            <a:pPr marL="0" indent="0" algn="l">
              <a:buNone/>
            </a:pPr>
            <a:endParaRPr lang="en-US" sz="2800" dirty="0">
              <a:solidFill>
                <a:srgbClr val="354154"/>
              </a:solidFill>
              <a:latin typeface="-apple-system"/>
            </a:endParaRPr>
          </a:p>
          <a:p>
            <a:pPr marL="0" indent="0" algn="l" rtl="0">
              <a:buNone/>
            </a:pPr>
            <a:endParaRPr lang="en-US" sz="2800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2564904"/>
            <a:ext cx="8636968" cy="353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5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2.Event Logger:</a:t>
            </a:r>
          </a:p>
          <a:p>
            <a:pPr marL="0" lvl="0" indent="0">
              <a:buClr>
                <a:srgbClr val="E48312"/>
              </a:buClr>
              <a:buNone/>
            </a:pPr>
            <a:r>
              <a:rPr lang="en-US" sz="2400" dirty="0">
                <a:solidFill>
                  <a:srgbClr val="354154"/>
                </a:solidFill>
                <a:latin typeface="-apple-system"/>
              </a:rPr>
              <a:t>Handles logging of simulation events:</a:t>
            </a:r>
            <a:endParaRPr lang="en-US" sz="2800" dirty="0">
              <a:solidFill>
                <a:srgbClr val="354154"/>
              </a:solidFill>
              <a:latin typeface="-apple-system"/>
            </a:endParaRPr>
          </a:p>
          <a:p>
            <a:pPr marL="0" indent="0" algn="l" rtl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E11AE-3DA4-494A-AFE1-98950379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400" y="5249030"/>
            <a:ext cx="5400600" cy="1608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5F9294-F011-4803-BC5E-7F4ABFE69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82" y="2462852"/>
            <a:ext cx="7394004" cy="276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06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3.</a:t>
            </a:r>
            <a:r>
              <a:rPr lang="en-US" sz="2800" dirty="0"/>
              <a:t> </a:t>
            </a:r>
            <a:r>
              <a:rPr lang="en-US" sz="2800" dirty="0" err="1"/>
              <a:t>NetworkLink</a:t>
            </a:r>
            <a:r>
              <a:rPr lang="en-US" sz="2800" dirty="0">
                <a:solidFill>
                  <a:srgbClr val="354154"/>
                </a:solidFill>
                <a:latin typeface="-apple-system"/>
              </a:rPr>
              <a:t> Class:</a:t>
            </a:r>
          </a:p>
          <a:p>
            <a:pPr marL="0" lvl="0" indent="0">
              <a:buClr>
                <a:srgbClr val="E48312"/>
              </a:buClr>
              <a:buNone/>
            </a:pPr>
            <a:r>
              <a:rPr lang="en-US" sz="2400" dirty="0">
                <a:solidFill>
                  <a:srgbClr val="354154"/>
                </a:solidFill>
                <a:latin typeface="-apple-system"/>
              </a:rPr>
              <a:t>Represents a network link with transmission capabilities.:</a:t>
            </a:r>
          </a:p>
          <a:p>
            <a:pPr marL="0" indent="0" algn="l">
              <a:buNone/>
            </a:pPr>
            <a:endParaRPr lang="en-US" sz="2800" dirty="0">
              <a:solidFill>
                <a:srgbClr val="354154"/>
              </a:solidFill>
              <a:latin typeface="-apple-system"/>
            </a:endParaRPr>
          </a:p>
          <a:p>
            <a:pPr marL="0" indent="0" algn="l" rtl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D420B-E6A7-4C02-8969-7E0701AA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2322165"/>
            <a:ext cx="102965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2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4.</a:t>
            </a:r>
            <a:r>
              <a:rPr lang="en-US" sz="2800" dirty="0"/>
              <a:t> </a:t>
            </a:r>
            <a:r>
              <a:rPr lang="en-US" sz="2800" dirty="0" err="1"/>
              <a:t>StatisticsCollector</a:t>
            </a:r>
            <a:r>
              <a:rPr lang="en-US" sz="2800" dirty="0">
                <a:solidFill>
                  <a:srgbClr val="354154"/>
                </a:solidFill>
                <a:latin typeface="-apple-system"/>
              </a:rPr>
              <a:t> Class:</a:t>
            </a:r>
          </a:p>
          <a:p>
            <a:pPr marL="0" indent="0">
              <a:buClr>
                <a:srgbClr val="E48312"/>
              </a:buClr>
              <a:buNone/>
            </a:pPr>
            <a:r>
              <a:rPr lang="en-US" dirty="0"/>
              <a:t>Collects and plots simulation statistics over time</a:t>
            </a:r>
            <a:r>
              <a:rPr lang="en-US" sz="2400" dirty="0">
                <a:solidFill>
                  <a:srgbClr val="354154"/>
                </a:solidFill>
                <a:latin typeface="-apple-system"/>
              </a:rPr>
              <a:t>:</a:t>
            </a:r>
          </a:p>
          <a:p>
            <a:pPr marL="0" indent="0" algn="l">
              <a:buNone/>
            </a:pPr>
            <a:endParaRPr lang="en-US" sz="2800" dirty="0">
              <a:solidFill>
                <a:srgbClr val="354154"/>
              </a:solidFill>
              <a:latin typeface="-apple-system"/>
            </a:endParaRPr>
          </a:p>
          <a:p>
            <a:pPr marL="0" indent="0" algn="l" rtl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D420B-E6A7-4C02-8969-7E0701AA9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23" y="2492896"/>
            <a:ext cx="10296525" cy="29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2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063552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r>
              <a:rPr lang="en-US" sz="3100" b="1" dirty="0">
                <a:solidFill>
                  <a:srgbClr val="FF0000"/>
                </a:solidFill>
                <a:latin typeface="-apple-system"/>
              </a:rPr>
              <a:t>3.Implementation Details</a:t>
            </a:r>
            <a:br>
              <a:rPr lang="en-US" b="1" dirty="0">
                <a:solidFill>
                  <a:srgbClr val="354154"/>
                </a:solidFill>
                <a:latin typeface="-apple-system"/>
              </a:rPr>
            </a:b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839416" y="1268760"/>
            <a:ext cx="10513168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4154"/>
                </a:solidFill>
                <a:latin typeface="-apple-system"/>
              </a:rPr>
              <a:t>5.</a:t>
            </a:r>
            <a:r>
              <a:rPr lang="en-US" sz="2800" dirty="0"/>
              <a:t> Simulation</a:t>
            </a:r>
            <a:r>
              <a:rPr lang="en-US" sz="2800" dirty="0">
                <a:solidFill>
                  <a:srgbClr val="354154"/>
                </a:solidFill>
                <a:latin typeface="-apple-system"/>
              </a:rPr>
              <a:t> Class:</a:t>
            </a:r>
          </a:p>
          <a:p>
            <a:pPr marL="0" indent="0">
              <a:buClr>
                <a:srgbClr val="E48312"/>
              </a:buClr>
              <a:buNone/>
            </a:pPr>
            <a:r>
              <a:rPr lang="en-US" dirty="0"/>
              <a:t>Main simulation class that coordinates the entire process</a:t>
            </a:r>
            <a:endParaRPr lang="en-US" sz="2800" dirty="0">
              <a:solidFill>
                <a:srgbClr val="354154"/>
              </a:solidFill>
              <a:latin typeface="-apple-system"/>
            </a:endParaRPr>
          </a:p>
          <a:p>
            <a:pPr marL="0" indent="0" algn="l" rtl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D420B-E6A7-4C02-8969-7E0701AA9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" y="2268353"/>
            <a:ext cx="11590362" cy="45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31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71" y="1046658"/>
            <a:ext cx="9144018" cy="60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0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8" y="1492526"/>
            <a:ext cx="7104112" cy="4731338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2132856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FIFO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WEBSITE (HTTP)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A4C6C-BC2A-44F6-B520-1C70B0D47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4073989"/>
            <a:ext cx="4846568" cy="20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5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485" y="1340768"/>
            <a:ext cx="7634515" cy="5034854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63" y="1970173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PIE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WEBSITE (HTTP)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55B2A-13BC-4577-9769-3759835E8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9519"/>
            <a:ext cx="4557485" cy="26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2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822" y="1340768"/>
            <a:ext cx="7559840" cy="5034854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63" y="1970173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FIFO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VIDEO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55B2A-13BC-4577-9769-3759835E8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4557485" cy="22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20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822" y="1340768"/>
            <a:ext cx="7559840" cy="5034854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63" y="1970173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PIE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VIDEO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55B2A-13BC-4577-9769-3759835E8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4502"/>
            <a:ext cx="4557485" cy="209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5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744" y="1754872"/>
            <a:ext cx="7634515" cy="4571960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63" y="1970173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FIFO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FTP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55B2A-13BC-4577-9769-3759835E8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1225"/>
            <a:ext cx="4557485" cy="216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70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4. Results 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6AD4-87C9-46C8-B591-A55FBB126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160" y="1196752"/>
            <a:ext cx="7559840" cy="5034854"/>
          </a:xfrm>
          <a:prstGeom prst="rect">
            <a:avLst/>
          </a:prstGeom>
        </p:spPr>
      </p:pic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5692C18A-542F-40B8-B777-B098A3ED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63" y="1970173"/>
            <a:ext cx="3240360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4154"/>
                </a:solidFill>
                <a:latin typeface="-apple-system"/>
              </a:rPr>
              <a:t>PIE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FTP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354154"/>
                </a:solidFill>
                <a:latin typeface="-apple-system"/>
              </a:rPr>
              <a:t>1000 packets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55B2A-13BC-4577-9769-3759835E8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4714"/>
            <a:ext cx="4557485" cy="23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59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63352" y="173247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4. </a:t>
            </a:r>
            <a:r>
              <a:rPr lang="en-US" sz="3600" dirty="0">
                <a:solidFill>
                  <a:srgbClr val="FF0000"/>
                </a:solidFill>
              </a:rPr>
              <a:t>Results and Analysis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3EAAC7-8B12-4A95-8A24-50E4F640A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1196752"/>
            <a:ext cx="6688982" cy="51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05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63352" y="173247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Results Discussion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عنصر نائب للمحتوى 2">
            <a:extLst>
              <a:ext uri="{FF2B5EF4-FFF2-40B4-BE49-F238E27FC236}">
                <a16:creationId xmlns:a16="http://schemas.microsoft.com/office/drawing/2014/main" id="{E3C30BD4-14CB-4AFF-92DA-6F5FF09C3492}"/>
              </a:ext>
            </a:extLst>
          </p:cNvPr>
          <p:cNvSpPr txBox="1">
            <a:spLocks/>
          </p:cNvSpPr>
          <p:nvPr/>
        </p:nvSpPr>
        <p:spPr>
          <a:xfrm>
            <a:off x="335360" y="1556792"/>
            <a:ext cx="11129609" cy="554461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Advantages of PIE:</a:t>
            </a:r>
          </a:p>
          <a:p>
            <a:pPr marL="0" indent="0" algn="just">
              <a:buNone/>
            </a:pPr>
            <a:r>
              <a:rPr lang="en-US" sz="2400" dirty="0"/>
              <a:t>• Higher success rates for all packets types FTP , web and FTP</a:t>
            </a:r>
          </a:p>
          <a:p>
            <a:pPr marL="0" indent="0" algn="just">
              <a:buNone/>
            </a:pPr>
            <a:r>
              <a:rPr lang="en-US" sz="2400" dirty="0"/>
              <a:t>• 30% faster processing time</a:t>
            </a:r>
          </a:p>
          <a:p>
            <a:pPr marL="0" indent="0" algn="just">
              <a:buNone/>
            </a:pPr>
            <a:r>
              <a:rPr lang="en-US" sz="2400" dirty="0"/>
              <a:t>• Better overall performance</a:t>
            </a:r>
          </a:p>
          <a:p>
            <a:pPr marL="0" indent="0" algn="just">
              <a:buNone/>
            </a:pPr>
            <a:r>
              <a:rPr lang="en-US" sz="2400" dirty="0"/>
              <a:t>• More efficient queue management</a:t>
            </a:r>
          </a:p>
        </p:txBody>
      </p:sp>
    </p:spTree>
    <p:extLst>
      <p:ext uri="{BB962C8B-B14F-4D97-AF65-F5344CB8AC3E}">
        <p14:creationId xmlns:p14="http://schemas.microsoft.com/office/powerpoint/2010/main" val="547997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71210" y="476672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6. Future Improvements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044069" y="1340768"/>
            <a:ext cx="11129609" cy="5544616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400" dirty="0">
                <a:solidFill>
                  <a:srgbClr val="0070C0"/>
                </a:solidFill>
              </a:rPr>
              <a:t>Several enhancements can be made to the simulation framework:</a:t>
            </a:r>
          </a:p>
          <a:p>
            <a:pPr marL="0" indent="0" algn="l" rtl="0">
              <a:buNone/>
            </a:pPr>
            <a:r>
              <a:rPr lang="en-US" sz="2400" dirty="0">
                <a:solidFill>
                  <a:srgbClr val="00B050"/>
                </a:solidFill>
              </a:rPr>
              <a:t>1. Network Topology:</a:t>
            </a:r>
          </a:p>
          <a:p>
            <a:pPr algn="l" rtl="0"/>
            <a:r>
              <a:rPr lang="en-US" sz="2400" dirty="0"/>
              <a:t>Multi-node network simulations</a:t>
            </a:r>
          </a:p>
          <a:p>
            <a:pPr algn="l" rtl="0"/>
            <a:r>
              <a:rPr lang="en-US" sz="2400" dirty="0"/>
              <a:t>Complex routing scenarios</a:t>
            </a:r>
          </a:p>
          <a:p>
            <a:r>
              <a:rPr lang="en-US" sz="2400" dirty="0">
                <a:solidFill>
                  <a:srgbClr val="00B050"/>
                </a:solidFill>
              </a:rPr>
              <a:t>2.Visualization Enhancements:</a:t>
            </a:r>
          </a:p>
          <a:p>
            <a:r>
              <a:rPr lang="en-US" sz="2400" dirty="0"/>
              <a:t>Real-time monitoring dashboard</a:t>
            </a:r>
          </a:p>
          <a:p>
            <a:r>
              <a:rPr lang="en-US" sz="2400" dirty="0"/>
              <a:t>Interactive parameter tuning</a:t>
            </a:r>
          </a:p>
          <a:p>
            <a:r>
              <a:rPr lang="en-US" sz="2400" dirty="0"/>
              <a:t>Advanced statistical analysis tools</a:t>
            </a:r>
          </a:p>
          <a:p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1779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23730" y="692696"/>
            <a:ext cx="10058400" cy="71528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Code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ttps://api.qrserver.com/v1/create-qr-code/?data=https%3A%2F%2Fgithub.com%2FThanoon12k%2FROUTER-AQM-FIFO-CODEL-PIE-comparison">
            <a:extLst>
              <a:ext uri="{FF2B5EF4-FFF2-40B4-BE49-F238E27FC236}">
                <a16:creationId xmlns:a16="http://schemas.microsoft.com/office/drawing/2014/main" id="{23457B70-C945-4F16-BAC2-D14EB75D8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1988840"/>
            <a:ext cx="3888432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771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066800" y="2204864"/>
            <a:ext cx="10058400" cy="21593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4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</a:rPr>
              <a:t>Thank you</a:t>
            </a:r>
          </a:p>
          <a:p>
            <a:pPr marL="0" indent="0" algn="ctr">
              <a:buNone/>
            </a:pPr>
            <a:endParaRPr lang="en-US" sz="146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2622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357</TotalTime>
  <Words>599</Words>
  <Application>Microsoft Office PowerPoint</Application>
  <PresentationFormat>Widescreen</PresentationFormat>
  <Paragraphs>104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Simplified Arabic</vt:lpstr>
      <vt:lpstr>Times New Roman</vt:lpstr>
      <vt:lpstr>Retrospect</vt:lpstr>
      <vt:lpstr>PowerPoint Presentation</vt:lpstr>
      <vt:lpstr>Network Queue Management Simulation Table of Contents </vt:lpstr>
      <vt:lpstr>1. Project Overview </vt:lpstr>
      <vt:lpstr>2. Algorithms </vt:lpstr>
      <vt:lpstr>2.2 PIE(Proportional Integral controller Enhanced ) Algorithm </vt:lpstr>
      <vt:lpstr>How PIE work</vt:lpstr>
      <vt:lpstr>PIE drop Equation</vt:lpstr>
      <vt:lpstr>Project Overview </vt:lpstr>
      <vt:lpstr> 3.Implementation Details </vt:lpstr>
      <vt:lpstr> 3.Implementation Details </vt:lpstr>
      <vt:lpstr> 3.Implementation Details </vt:lpstr>
      <vt:lpstr> 3.Implementation Details </vt:lpstr>
      <vt:lpstr> 3.Implementation Details </vt:lpstr>
      <vt:lpstr> 3.Implementation Details </vt:lpstr>
      <vt:lpstr>4. Results and Analysis </vt:lpstr>
      <vt:lpstr>4. Results and Analysis </vt:lpstr>
      <vt:lpstr>4. Results and Analysis </vt:lpstr>
      <vt:lpstr>4. Results and Analysis </vt:lpstr>
      <vt:lpstr>4. Results and Analysis </vt:lpstr>
      <vt:lpstr>4. Results and Analysis </vt:lpstr>
      <vt:lpstr>4. Results and Analysis </vt:lpstr>
      <vt:lpstr>4. Results and Analysis  </vt:lpstr>
      <vt:lpstr>5. Results Discussion  </vt:lpstr>
      <vt:lpstr>6. Future Improvements </vt:lpstr>
      <vt:lpstr>Source 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AL-KANZ</dc:creator>
  <cp:lastModifiedBy>WIN10</cp:lastModifiedBy>
  <cp:revision>51</cp:revision>
  <dcterms:created xsi:type="dcterms:W3CDTF">2025-05-10T09:13:30Z</dcterms:created>
  <dcterms:modified xsi:type="dcterms:W3CDTF">2025-05-13T17:21:52Z</dcterms:modified>
</cp:coreProperties>
</file>